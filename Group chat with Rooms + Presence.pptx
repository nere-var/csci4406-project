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Urbanist ExtraLight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Poppins Light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Poppins Extra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Light-italic.fntdata"/><Relationship Id="rId41" Type="http://schemas.openxmlformats.org/officeDocument/2006/relationships/font" Target="fonts/PoppinsExtra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33" Type="http://schemas.openxmlformats.org/officeDocument/2006/relationships/font" Target="fonts/Urbanist-boldItalic.fntdata"/><Relationship Id="rId32" Type="http://schemas.openxmlformats.org/officeDocument/2006/relationships/font" Target="fonts/Urbanist-italic.fntdata"/><Relationship Id="rId35" Type="http://schemas.openxmlformats.org/officeDocument/2006/relationships/font" Target="fonts/PoppinsSemiBold-bold.fntdata"/><Relationship Id="rId34" Type="http://schemas.openxmlformats.org/officeDocument/2006/relationships/font" Target="fonts/PoppinsSemiBold-regular.fntdata"/><Relationship Id="rId37" Type="http://schemas.openxmlformats.org/officeDocument/2006/relationships/font" Target="fonts/PoppinsSemiBold-boldItalic.fntdata"/><Relationship Id="rId36" Type="http://schemas.openxmlformats.org/officeDocument/2006/relationships/font" Target="fonts/PoppinsSemiBold-italic.fntdata"/><Relationship Id="rId39" Type="http://schemas.openxmlformats.org/officeDocument/2006/relationships/font" Target="fonts/PoppinsExtraLight-bold.fntdata"/><Relationship Id="rId38" Type="http://schemas.openxmlformats.org/officeDocument/2006/relationships/font" Target="fonts/PoppinsExtraLight-regular.fntdata"/><Relationship Id="rId20" Type="http://schemas.openxmlformats.org/officeDocument/2006/relationships/font" Target="fonts/UrbanistExtraLight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UrbanistExtraLight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26" Type="http://schemas.openxmlformats.org/officeDocument/2006/relationships/font" Target="fonts/PoppinsLigh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PoppinsLight-italic.fntdata"/><Relationship Id="rId27" Type="http://schemas.openxmlformats.org/officeDocument/2006/relationships/font" Target="fonts/PoppinsLight-bold.fntdata"/><Relationship Id="rId29" Type="http://schemas.openxmlformats.org/officeDocument/2006/relationships/font" Target="fonts/Poppins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UrbanistExtraLight-bold.fntdata"/><Relationship Id="rId18" Type="http://schemas.openxmlformats.org/officeDocument/2006/relationships/font" Target="fonts/UrbanistExtra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a3868629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a3868629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386862955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a386862955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a386862955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a386862955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386862955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386862955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386862955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a386862955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a386862955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a386862955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386862955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a386862955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a386862955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a386862955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Group chat with Rooms + Presence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3502175" y="3714600"/>
            <a:ext cx="51648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Pixel panthers- Adrian Lopez, Mallory Sorola, Isabel Villarreal, Emma Whitehead, Anthony Whitmore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01. </a:t>
            </a:r>
            <a:r>
              <a:rPr lang="en"/>
              <a:t>A working chat service </a:t>
            </a:r>
            <a:r>
              <a:rPr lang="en"/>
              <a:t>modeled</a:t>
            </a:r>
            <a:r>
              <a:rPr lang="en"/>
              <a:t> after </a:t>
            </a:r>
            <a:r>
              <a:rPr lang="en"/>
              <a:t>socket</a:t>
            </a:r>
            <a:r>
              <a:rPr lang="en"/>
              <a:t> programming</a:t>
            </a:r>
            <a:endParaRPr/>
          </a:p>
        </p:txBody>
      </p:sp>
      <p:sp>
        <p:nvSpPr>
          <p:cNvPr id="580" name="Google Shape;580;p55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03. </a:t>
            </a:r>
            <a:r>
              <a:rPr lang="en"/>
              <a:t>Handling of out-of-order arrivals</a:t>
            </a:r>
            <a:endParaRPr/>
          </a:p>
        </p:txBody>
      </p:sp>
      <p:sp>
        <p:nvSpPr>
          <p:cNvPr id="581" name="Google Shape;581;p55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05. </a:t>
            </a:r>
            <a:r>
              <a:rPr lang="en"/>
              <a:t>Implementation of Sliding Window ARQ</a:t>
            </a:r>
            <a:endParaRPr/>
          </a:p>
        </p:txBody>
      </p:sp>
      <p:sp>
        <p:nvSpPr>
          <p:cNvPr id="582" name="Google Shape;582;p55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02. </a:t>
            </a:r>
            <a:r>
              <a:rPr lang="en"/>
              <a:t>Reliable, inorder message delivery</a:t>
            </a:r>
            <a:endParaRPr/>
          </a:p>
        </p:txBody>
      </p:sp>
      <p:sp>
        <p:nvSpPr>
          <p:cNvPr id="583" name="Google Shape;583;p55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04. </a:t>
            </a:r>
            <a:r>
              <a:rPr lang="en"/>
              <a:t>Latency and retransmission reports</a:t>
            </a:r>
            <a:endParaRPr/>
          </a:p>
        </p:txBody>
      </p:sp>
      <p:sp>
        <p:nvSpPr>
          <p:cNvPr id="584" name="Google Shape;584;p55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5" name="Google Shape;585;p55"/>
          <p:cNvCxnSpPr/>
          <p:nvPr/>
        </p:nvCxnSpPr>
        <p:spPr>
          <a:xfrm rot="10800000">
            <a:off x="5896563" y="1427825"/>
            <a:ext cx="0" cy="2964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55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What we will Demonstrate</a:t>
            </a:r>
            <a:endParaRPr sz="2900"/>
          </a:p>
        </p:txBody>
      </p:sp>
      <p:sp>
        <p:nvSpPr>
          <p:cNvPr id="587" name="Google Shape;587;p55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88" name="Google Shape;588;p55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589" name="Google Shape;589;p55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01.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 Building a working chat service for multiple client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5" name="Google Shape;595;p56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03. 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Requiring a checksum to verify message integrity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6" name="Google Shape;596;p56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05. 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Ensuring our client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Passes all lossy networking shim test without crashing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Can handle two or more clients concurrently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Has proper error handling for invalid commands or disconnects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</p:txBody>
      </p:sp>
      <p:sp>
        <p:nvSpPr>
          <p:cNvPr id="597" name="Google Shape;597;p56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02. Collect metric like throughout, average/ 95th-percentile latency to produce a metrics report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8" name="Google Shape;598;p56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latin typeface="Poppins Light"/>
                <a:ea typeface="Poppins Light"/>
                <a:cs typeface="Poppins Light"/>
                <a:sym typeface="Poppins Light"/>
              </a:rPr>
              <a:t>04. </a:t>
            </a:r>
            <a:r>
              <a:rPr b="0" lang="en" sz="1400">
                <a:latin typeface="Poppins SemiBold"/>
                <a:ea typeface="Poppins SemiBold"/>
                <a:cs typeface="Poppins SemiBold"/>
                <a:sym typeface="Poppins SemiBold"/>
              </a:rPr>
              <a:t>Implementing:</a:t>
            </a:r>
            <a:endParaRPr b="0" sz="14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Flow control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Reliability</a:t>
            </a: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 using Selective Repeat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Urbanist ExtraLight"/>
              <a:buChar char="●"/>
            </a:pP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Timeout and </a:t>
            </a:r>
            <a:r>
              <a:rPr b="0" lang="en" sz="1400">
                <a:latin typeface="Urbanist ExtraLight"/>
                <a:ea typeface="Urbanist ExtraLight"/>
                <a:cs typeface="Urbanist ExtraLight"/>
                <a:sym typeface="Urbanist ExtraLight"/>
              </a:rPr>
              <a:t>retransmission</a:t>
            </a:r>
            <a:endParaRPr b="0" sz="1400">
              <a:latin typeface="Urbanist ExtraLight"/>
              <a:ea typeface="Urbanist ExtraLight"/>
              <a:cs typeface="Urbanist ExtraLight"/>
              <a:sym typeface="Urbanist ExtraLight"/>
            </a:endParaRPr>
          </a:p>
        </p:txBody>
      </p:sp>
      <p:cxnSp>
        <p:nvCxnSpPr>
          <p:cNvPr id="599" name="Google Shape;599;p56"/>
          <p:cNvCxnSpPr/>
          <p:nvPr/>
        </p:nvCxnSpPr>
        <p:spPr>
          <a:xfrm rot="10800000">
            <a:off x="5724138" y="1921100"/>
            <a:ext cx="0" cy="2794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6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Goal</a:t>
            </a:r>
            <a:endParaRPr/>
          </a:p>
        </p:txBody>
      </p:sp>
      <p:sp>
        <p:nvSpPr>
          <p:cNvPr id="601" name="Google Shape;601;p56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Quarter</a:t>
            </a:r>
            <a:endParaRPr/>
          </a:p>
        </p:txBody>
      </p:sp>
      <p:sp>
        <p:nvSpPr>
          <p:cNvPr id="602" name="Google Shape;602;p56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Year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"/>
          <p:cNvSpPr txBox="1"/>
          <p:nvPr>
            <p:ph idx="1" type="subTitle"/>
          </p:nvPr>
        </p:nvSpPr>
        <p:spPr>
          <a:xfrm>
            <a:off x="0" y="448200"/>
            <a:ext cx="5991300" cy="405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JOIN &lt;room&gt;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join a chatroom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LEAVE &lt;room&gt;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leave a chatroom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MSG &lt;room&gt; &lt;text&gt;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send a message to a chatroom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LIST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lists </a:t>
            </a: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chat rooms</a:t>
            </a: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available to join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USERNAME REGISTER &lt;username&gt; &lt;password&gt;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allows a user to set their username and password prior to entering a chatroom for the first time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LOGIN &lt;username&gt; &lt;password&gt;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allows user to sign in after registering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ONLINE &lt;room&gt;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lists who is online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●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DISCONNECT &lt;room&gt;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1200"/>
              <a:buFont typeface="Arial"/>
              <a:buChar char="○"/>
            </a:pPr>
            <a:r>
              <a:rPr lang="en">
                <a:solidFill>
                  <a:srgbClr val="F0F6FC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allows user to disconnect from the chat room and return to main server screen to view list of chatrooms available or change username</a:t>
            </a:r>
            <a:endParaRPr>
              <a:solidFill>
                <a:srgbClr val="F0F6FC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7"/>
          <p:cNvSpPr txBox="1"/>
          <p:nvPr>
            <p:ph type="title"/>
          </p:nvPr>
        </p:nvSpPr>
        <p:spPr>
          <a:xfrm>
            <a:off x="2824525" y="0"/>
            <a:ext cx="5622600" cy="1319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Message Format and Command Grammer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8"/>
          <p:cNvSpPr txBox="1"/>
          <p:nvPr>
            <p:ph idx="1" type="subTitle"/>
          </p:nvPr>
        </p:nvSpPr>
        <p:spPr>
          <a:xfrm>
            <a:off x="284700" y="1427825"/>
            <a:ext cx="5087700" cy="3429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The client_client.py is the login phase for user’s. </a:t>
            </a:r>
            <a:endParaRPr sz="1600"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ExtraLight"/>
              <a:buChar char="●"/>
            </a:pP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Registering or </a:t>
            </a: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logging</a:t>
            </a: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 in</a:t>
            </a:r>
            <a:endParaRPr sz="1600"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ExtraLight"/>
              <a:buChar char="●"/>
            </a:pP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Register: Enter a us a </a:t>
            </a: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unique</a:t>
            </a: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 </a:t>
            </a: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username, and password</a:t>
            </a:r>
            <a:endParaRPr sz="1600"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ExtraLight"/>
              <a:buChar char="●"/>
            </a:pP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Login: Enter your username and password</a:t>
            </a:r>
            <a:endParaRPr sz="1600"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ExtraLight"/>
              <a:buChar char="●"/>
            </a:pPr>
            <a:r>
              <a:rPr lang="en" sz="1600">
                <a:latin typeface="Poppins ExtraLight"/>
                <a:ea typeface="Poppins ExtraLight"/>
                <a:cs typeface="Poppins ExtraLight"/>
                <a:sym typeface="Poppins ExtraLight"/>
              </a:rPr>
              <a:t>Ask permission for join a room, send a message, see who's online and leave the room.</a:t>
            </a:r>
            <a:endParaRPr sz="1600"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8"/>
          <p:cNvSpPr txBox="1"/>
          <p:nvPr>
            <p:ph type="title"/>
          </p:nvPr>
        </p:nvSpPr>
        <p:spPr>
          <a:xfrm>
            <a:off x="203175" y="61025"/>
            <a:ext cx="5622600" cy="13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Chat_client.</a:t>
            </a:r>
            <a:r>
              <a:rPr lang="en"/>
              <a:t>py Overview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9"/>
          <p:cNvSpPr txBox="1"/>
          <p:nvPr>
            <p:ph idx="1" type="subTitle"/>
          </p:nvPr>
        </p:nvSpPr>
        <p:spPr>
          <a:xfrm>
            <a:off x="284700" y="1201075"/>
            <a:ext cx="4287300" cy="3383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This program:</a:t>
            </a: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Arial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Listens on one port (default UDP 9000)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Arial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Accepts connections from multiple clients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Urbanist ExtraLight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Authenticates users (register/login)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Urbanist ExtraLight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Hosts multiple chat rooms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Urbanist ExtraLight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Broadcasts messages to everyone in the same room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Urbanist ExtraLight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Maintains active user lists</a:t>
            </a:r>
            <a:b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100000"/>
              <a:buFont typeface="Arial"/>
              <a:buChar char="●"/>
            </a:pPr>
            <a:r>
              <a:rPr lang="en" sz="56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Saves accounts to disk (accounts.json)</a:t>
            </a:r>
            <a:endParaRPr sz="56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59"/>
          <p:cNvSpPr txBox="1"/>
          <p:nvPr>
            <p:ph type="title"/>
          </p:nvPr>
        </p:nvSpPr>
        <p:spPr>
          <a:xfrm>
            <a:off x="198350" y="76650"/>
            <a:ext cx="5622600" cy="796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Chat_server.py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0"/>
          <p:cNvSpPr txBox="1"/>
          <p:nvPr>
            <p:ph idx="1" type="subTitle"/>
          </p:nvPr>
        </p:nvSpPr>
        <p:spPr>
          <a:xfrm>
            <a:off x="284700" y="1427825"/>
            <a:ext cx="4609200" cy="363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UDP by itself:</a:t>
            </a: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may drop packets</a:t>
            </a:r>
            <a:b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may duplicate packets</a:t>
            </a:r>
            <a:b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may reorder packets</a:t>
            </a:r>
            <a:b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has no acknowledgement</a:t>
            </a:r>
            <a:b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has no connection state</a:t>
            </a:r>
            <a:b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</a:b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-29257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ct val="92857"/>
              <a:buFont typeface="Urbanist ExtraLight"/>
              <a:buChar char="●"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Has no retransmission</a:t>
            </a: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0F6FC"/>
                </a:solidFill>
                <a:latin typeface="Urbanist ExtraLight"/>
                <a:ea typeface="Urbanist ExtraLight"/>
                <a:cs typeface="Urbanist ExtraLight"/>
                <a:sym typeface="Urbanist ExtraLight"/>
              </a:rPr>
              <a:t>From the chat_client.py, this raw data bytes are transported to the chat_transport.py which send a UDP packets to the network which is final sent to the server with a username, accounts, and rooms).</a:t>
            </a:r>
            <a:endParaRPr sz="1400">
              <a:solidFill>
                <a:srgbClr val="F0F6FC"/>
              </a:solidFill>
              <a:latin typeface="Urbanist ExtraLight"/>
              <a:ea typeface="Urbanist ExtraLight"/>
              <a:cs typeface="Urbanist ExtraLight"/>
              <a:sym typeface="Urbanist Extra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0"/>
          <p:cNvSpPr txBox="1"/>
          <p:nvPr>
            <p:ph type="title"/>
          </p:nvPr>
        </p:nvSpPr>
        <p:spPr>
          <a:xfrm>
            <a:off x="284700" y="474750"/>
            <a:ext cx="5622600" cy="739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Chat_transport.py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61"/>
          <p:cNvSpPr txBox="1"/>
          <p:nvPr>
            <p:ph idx="1" type="subTitle"/>
          </p:nvPr>
        </p:nvSpPr>
        <p:spPr>
          <a:xfrm>
            <a:off x="284700" y="1523850"/>
            <a:ext cx="4287300" cy="36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review, making a chat room requires three separate programs: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function: To handle users' logins and connect them to the main lobby, awaiting to join a direct message or a public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 function: Setting up a general area where users can communicate. Seeing who joins, username,  message, and who's online. Once a user is done chatting, others will see them leave.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Transport function: Sends and receives UDP packets.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61"/>
          <p:cNvSpPr txBox="1"/>
          <p:nvPr>
            <p:ph type="title"/>
          </p:nvPr>
        </p:nvSpPr>
        <p:spPr>
          <a:xfrm>
            <a:off x="284700" y="474750"/>
            <a:ext cx="5622600" cy="862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